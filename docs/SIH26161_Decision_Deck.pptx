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6E7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A6E78"/>
                </a:solidFill>
                <a:latin typeface="Calibri"/>
              </a:rPr>
              <a:t>Satellite revisit vs a breach that develops in minutes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Revisit (days)</c:v>
                </c:pt>
              </c:strCache>
            </c:strRef>
          </c:tx>
          <c:spPr>
            <a:solidFill>
              <a:srgbClr val="1F66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B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66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B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2703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Sentinel-1 SAR (India)</c:v>
                  </c:pt>
                  <c:pt idx="1">
                    <c:v>SWOT altimetry</c:v>
                  </c:pt>
                  <c:pt idx="2">
                    <c:v>Sentinel-3 altimetry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21</c:v>
                </c:pt>
                <c:pt idx="2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B2B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12700" cap="flat">
              <a:solidFill>
                <a:srgbClr val="E4EA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E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out of 80</c:v>
                </c:pt>
              </c:strCache>
            </c:strRef>
          </c:tx>
          <c:spPr>
            <a:solidFill>
              <a:srgbClr val="5A6E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B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A6E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6E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270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667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Pure hydrodynamics</c:v>
                  </c:pt>
                  <c:pt idx="1">
                    <c:v>Hydro + visualisation</c:v>
                  </c:pt>
                  <c:pt idx="2">
                    <c:v>Hydro + generic decision support</c:v>
                  </c:pt>
                  <c:pt idx="3">
                    <c:v>Hydro + ad-hoc impoundments + isolation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</c:v>
                </c:pt>
                <c:pt idx="1">
                  <c:v>44</c:v>
                </c:pt>
                <c:pt idx="2">
                  <c:v>39</c:v>
                </c:pt>
                <c:pt idx="3">
                  <c:v>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B2B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B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12700" cap="flat">
              <a:solidFill>
                <a:srgbClr val="E4EA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E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Verdict up front: worth picking, conditionally. The PS is not what we assumed and the duplication risk is worse than feared, but a real gap survives.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Biggest single surprise. Everyone will assume this is a CWC flood-forecasting problem. It is an intelligence-agency HADR tooling problem, and it names two heavyweight solvers.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ourselves in the SIH pitch. Owning the comparison beats being ambushed by a judge who knows RBSD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conditions, both hard. If either fails, SIH26013 is the low-variance hedge.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37160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2703A"/>
          </a:solidFill>
          <a:ln w="12700">
            <a:solidFill>
              <a:srgbClr val="E2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13716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2880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24028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 Break Inundation Modelling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70332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9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pick it? An evidence-based read of what the Government of India has already built — and what it hasn't.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48920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 </a:t>
            </a:r>
            <a:pPr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Technical Research Organisation (NTRO)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 </a:t>
            </a:r>
            <a:pPr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Management  ·  Software  ·  Idea deadline 20 Sep 2026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date 29 Aug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VERSION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numbers that decide this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86384" y="1938528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66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6,628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798064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specified dams already registered, inspected and inundation-mapped under the Dam Safety Act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6384" y="3730752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1F6675"/>
          </a:solidFill>
          <a:ln w="12700">
            <a:solidFill>
              <a:srgbClr val="1F66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37307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83864" y="173736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703320" y="1938528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6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Mar 2026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798064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RBSD went live — the government's own dam-break and population-at-risk dashboard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03320" y="3730752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1F6675"/>
          </a:solidFill>
          <a:ln w="12700">
            <a:solidFill>
              <a:srgbClr val="1F667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03320" y="37307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0" y="173736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620256" y="1938528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6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days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620256" y="2798064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nominal revisit outside Europe. A breach develops in minutes.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0256" y="3730752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1F6675"/>
          </a:solidFill>
          <a:ln w="12700">
            <a:solidFill>
              <a:srgbClr val="1F667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0256" y="37307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317736" y="173736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537192" y="1938528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weeks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537192" y="2798064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NDMA team to reach the 2015 Phutkal landslide dam. That is the gap.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37192" y="3730752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1F6675"/>
          </a:solidFill>
          <a:ln w="12700">
            <a:solidFill>
              <a:srgbClr val="1F667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37192" y="37307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" y="4343400"/>
            <a:ext cx="11027664" cy="1234440"/>
          </a:xfrm>
          <a:prstGeom prst="roundRect">
            <a:avLst>
              <a:gd name="adj" fmla="val 5926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77824" y="4526280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Verdict: pick it — conditionally.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" y="4901184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ceiling of the four PSs under consideration, and the highest floor risk. The two conditions are on the last slide.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40080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PIB Backgrounder 15 May 2026 · GIS Resources / OpenGov Asia · Copernicus SentiWiki · SANDRP 2015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PS is not what we assumed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9776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record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414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NTRO — not CWC / Jal Shakti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620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32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Management · Software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838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850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September 2026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056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CAP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3068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submissions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274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NAMED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9286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/ Landsat + ASTER / SRTM DEM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73168" y="1691640"/>
            <a:ext cx="6821424" cy="3977640"/>
          </a:xfrm>
          <a:prstGeom prst="roundRect">
            <a:avLst>
              <a:gd name="adj" fmla="val 1839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029200" y="187452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literally demands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2286000"/>
            <a:ext cx="618134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Particle Hydrodynamics and 'Delf3D', and a comparison of the two scenarios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 break AND river blockage analysis — the background is dominated by natural dams: Rishi Ganga 2021, Phutkal 2015, Kosi 2008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and damage analysis from the sudden water surge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GUI handling large data volumes; output as .shp or .kml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near-real-time flood analysis framework via Google Earth Engine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on a real Indian river and dam, open-source data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5852160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1F6675"/>
          </a:solidFill>
          <a:ln w="12700">
            <a:solidFill>
              <a:srgbClr val="1F667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58521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585216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from the official PS text (sih.gov.in/sih2026PS), corroborated across two independent mirrors.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discipline: what is in, what is not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404104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901952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REQUIRED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86000"/>
            <a:ext cx="48554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dam-break + river-blockage simulation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 and Delft3D, compared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and damage analysis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GUI, large data volumes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.shp / .kml export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 near-real-time framework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Indian river + dam demo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90488" y="1691640"/>
            <a:ext cx="5404104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64808" y="1901952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2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MENTIONED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64808" y="2286000"/>
            <a:ext cx="48554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Evacuation routing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allocation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dissemination / SMS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gauge or telemetry ingestion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operational deployment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accuracy target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specified river or dam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5440680"/>
            <a:ext cx="11027664" cy="841248"/>
          </a:xfrm>
          <a:prstGeom prst="roundRect">
            <a:avLst>
              <a:gd name="adj" fmla="val 8696"/>
            </a:avLst>
          </a:prstGeom>
          <a:solidFill>
            <a:srgbClr val="E4EAEB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1248" y="5596128"/>
            <a:ext cx="10479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2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we wanted to add — roads, evacuation priority, shelters — is value-add, not a substitute. A build that ships a gorgeous evacuation dashboard and no SPH / Delft3D comparison reads as non-compliant to an NTRO panel.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government already operates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89280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C-FLOOD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24028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CWC + C-DAC + NRSC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 village-level inundation forecasts, 3 basins, ANUGA on NSM HPC. Live 2 Jul 2025.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35424" y="189280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RBSD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535424" y="224028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FOR NDSA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35424" y="2514600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Dam-break analysis, inundation depth and timing, Population at Risk and Infrastructure at Risk.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28432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66176" y="189280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DHARMA + NETRA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266176" y="224028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NDSA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266176" y="2514600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6,628 dams registered; about 13,000 inspections a year; AI review built with the Navy's WESEE.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822192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04672" y="4023360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CWC FF network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37083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WATER COMMISSION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464515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forecasting stations, 7,000+ forecasts a year, FloodWatch app out to 7 days.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822192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35424" y="4023360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SACHET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437083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NDMA + C-DOT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35424" y="464515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alerting in all 36 States/UTs. 134 billion SMS. Cell broadcast rolling out.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28432" y="3822192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66176" y="4023360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Glacial lake watch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8266176" y="437083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CWC / NRSC / NDMA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266176" y="464515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2,843 lakes monitored monthly on Sentinel via GEE. NGRMP covers 189 high-risk lakes.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40080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verified from PIB releases, official portals and the operating agencies' own pages.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C-FLOOD is not our competitor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6751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90195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live on 29 Aug 2026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86000"/>
            <a:ext cx="6126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map at inf.cwc.gov.in, no login needed to browse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classes only: under 0.5 m / 0.5 to 1.5 m / over 1.5 m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Three-day tabs, refreshed every 3 hours, English / Hindi / Odia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Mahanadi, Godavari, Tapi — 3 of 20 basins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ANUGA, an open-source 2D shallow-water solver, on National Supercomputing Mission hardware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15 to 20 cm depth error in floodplains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70648" y="1691640"/>
            <a:ext cx="4123944" cy="1691640"/>
          </a:xfrm>
          <a:prstGeom prst="roundRect">
            <a:avLst>
              <a:gd name="adj" fmla="val 4324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26680" y="1874520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banner on the portal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2212848"/>
            <a:ext cx="3621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“Inundation is based on rainfall, river discharge and tide.”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470648" y="3611880"/>
            <a:ext cx="412394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26680" y="3822192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it has no breach mode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4187952"/>
            <a:ext cx="3621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dam-break scenario engine does not duplicate C-FLOOD. But “another 2D inundation viewer with a village layer” absolutely does — and theirs runs on a supercomputer.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5486400"/>
            <a:ext cx="11027664" cy="786384"/>
          </a:xfrm>
          <a:prstGeom prst="roundRect">
            <a:avLst>
              <a:gd name="adj" fmla="val 9302"/>
            </a:avLst>
          </a:prstGeom>
          <a:solidFill>
            <a:srgbClr val="E4EAEB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1248" y="5669280"/>
            <a:ext cx="10479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win:  </a:t>
            </a:r>
            <a:pPr indent="0" marL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build on ANUGA we are using the government's own solver. That is the answer to “why should we trust your model?”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UNCOMFORTABLE 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original pitch is already built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2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RBSD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Rāshtriya Bāndh Surakshā Darpan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063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9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C-DAC for the National Dam Safety Authority. Launched 10 March 2026 alongside NETRA.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61888" y="1737360"/>
            <a:ext cx="5632704" cy="3017520"/>
          </a:xfrm>
          <a:prstGeom prst="roundRect">
            <a:avLst>
              <a:gd name="adj" fmla="val 2424"/>
            </a:avLst>
          </a:prstGeom>
          <a:solidFill>
            <a:srgbClr val="12303F"/>
          </a:solidFill>
          <a:ln w="12700">
            <a:solidFill>
              <a:srgbClr val="1E435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36208" y="1938528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already does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36208" y="2331720"/>
            <a:ext cx="49926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Dam Break Analysis results as maps and dashboards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Inundation extent, depth AND timing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at Risk (PAR)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at Risk — settlements, roads, bridges, critical facilities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to support evacuation planning and Emergency Action Plans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4983480"/>
            <a:ext cx="11027664" cy="1234440"/>
          </a:xfrm>
          <a:prstGeom prst="roundRect">
            <a:avLst>
              <a:gd name="adj" fmla="val 5926"/>
            </a:avLst>
          </a:prstGeom>
          <a:solidFill>
            <a:srgbClr val="3A1C10"/>
          </a:solidFill>
          <a:ln w="12700">
            <a:solidFill>
              <a:srgbClr val="5C2E19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77824" y="5138928"/>
            <a:ext cx="10405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is our “flood sim, population exposure, decision-support dashboard” idea — shipped by C-DAC, for the national regulator.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5559552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A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rbsd.ndsa.gov.in is a login wall — checked 29 Aug 2026. Gated, precomputed, and scoped to specified dams. That is where the daylight is.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Solved, half-solved, open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E4EAEB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0195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SOLVED — DO NOT REBUILD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32304"/>
            <a:ext cx="305409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Riverine inundation forecasting (C-FLOOD)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Dam-break PAR dashboards (RBSD)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 registry and inspections (DHARMA)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alerting (SACHET)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Post-event extent mapping (NRSC, Copernicus)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53712" y="190195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SOLVED — HEADROOM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53712" y="2432304"/>
            <a:ext cx="305409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Dam-break output is static and login-gated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deterministic breach estimate, no ensemble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C-FLOOD covers 3 of 20 basins, no breach mode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Glacial-lake watch is monthly and area-based only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28432" y="169164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F3D9C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84464" y="190195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E2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OPEN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84464" y="2432304"/>
            <a:ext cx="305409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Impoundments outside the regulatory perimeter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to decision in hours, not weeks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ensembles, confidence-banded arrival times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Time-varying road isolation analysis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national open shelter-capacity dataset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5833872"/>
            <a:ext cx="11027664" cy="603504"/>
          </a:xfrm>
          <a:prstGeom prst="roundRect">
            <a:avLst>
              <a:gd name="adj" fmla="val 12121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1248" y="5943600"/>
            <a:ext cx="10479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Dam Safety Act governs specified dams over 15 m. A landslide dam that formed last week is not one.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OPENING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hazard class nobody owns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9202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0" b="1" dirty="0">
                <a:solidFill>
                  <a:srgbClr val="E2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</a:t>
            </a:r>
            <a:endParaRPr lang="en-US" sz="10800" dirty="0"/>
          </a:p>
        </p:txBody>
      </p:sp>
      <p:sp>
        <p:nvSpPr>
          <p:cNvPr id="5" name="Text 3"/>
          <p:cNvSpPr txBox="1"/>
          <p:nvPr/>
        </p:nvSpPr>
        <p:spPr>
          <a:xfrm>
            <a:off x="676656" y="34015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9776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9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NDMA team reached the Phutkal landslide dam in Zanskar, 2015. Roughly 50 days elapsed before channel-cutting work began.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230368" y="1828800"/>
            <a:ext cx="6364224" cy="3657600"/>
          </a:xfrm>
          <a:prstGeom prst="roundRect">
            <a:avLst>
              <a:gd name="adj" fmla="val 2000"/>
            </a:avLst>
          </a:prstGeom>
          <a:solidFill>
            <a:srgbClr val="12303F"/>
          </a:solidFill>
          <a:ln w="12700">
            <a:solidFill>
              <a:srgbClr val="1E435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504688" y="2048256"/>
            <a:ext cx="5815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nothing covers it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504688" y="2487168"/>
            <a:ext cx="57241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DHARMA record — it is not a specified dam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Emergency Action Plan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precomputed inundation map, so no RBSD entry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gauge, no rating curve, no telemetry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surveyed geometry and no breach parameters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PS names these events itself: Rishi Ganga 2021, Phutkal 2015, Kosi 2008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80644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9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“NDSA has a plan for all 6,628 specified dams. Nobody has a plan for the dam that formed last Tuesday.”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“Real-time satellite river level” does not exist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37360"/>
          <a:ext cx="60350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22008" y="1737360"/>
            <a:ext cx="467258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178040" y="1920240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no better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2240280"/>
            <a:ext cx="4123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Sentinel-3 river level RMSE 1.29 m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Jason-3 river level RMSE 3.13 m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0.29 m — best, still 21-day repeat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22008" y="3401568"/>
            <a:ext cx="4672584" cy="1581912"/>
          </a:xfrm>
          <a:prstGeom prst="roundRect">
            <a:avLst>
              <a:gd name="adj" fmla="val 4624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178040" y="3584448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right tier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3913632"/>
            <a:ext cx="4123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Satellites do discovery, over days. Gauges, reservoir telemetry and rainfall do triggering, over minutes. A precomputed scenario library does the answering, in seconds.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5212080"/>
            <a:ext cx="11027664" cy="868680"/>
          </a:xfrm>
          <a:prstGeom prst="roundRect">
            <a:avLst>
              <a:gd name="adj" fmla="val 8421"/>
            </a:avLst>
          </a:prstGeom>
          <a:solidFill>
            <a:srgbClr val="F3D9CB"/>
          </a:solidFill>
          <a:ln w="12700">
            <a:solidFill>
              <a:srgbClr val="E8C4A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41248" y="5376672"/>
            <a:ext cx="10479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9A3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2E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competing teams will claim real-time satellite monitoring. It is false, and an NTRO panel knows the revisit numbers. Being the team that refuses the claim is worth more than the claim.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SPH requirement, solved honestly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749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128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2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s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077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physical time is what 1 million SPH particles buys — about 15 minutes on a GPU. A 6-hour flood over 50 km is off by orders of magnitude.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44568" y="1691640"/>
            <a:ext cx="7050024" cy="2286000"/>
          </a:xfrm>
          <a:prstGeom prst="roundRect">
            <a:avLst>
              <a:gd name="adj" fmla="val 3200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00600" y="1874520"/>
            <a:ext cx="6547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resolution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194560"/>
            <a:ext cx="6501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SWE-SPH — 2D depth-averaged smoothed particle hydrodynamics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907792"/>
            <a:ext cx="6501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published family built for exactly this: dam breaks, tsunamis, levee breaches. It computes only in wet cells, so it adapts to an unknown inundation extent. Implement it in PySPH — which supports the shallow water equations, is BSD-licensed, and is developed at IIT Bombay Aerospace.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2062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4672" y="438912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ANUGA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718304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ENGINE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974336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Python-native, pip-installable, and the same solver C-DAC runs inside C-FLOOD. Carries all scenarios and exposure analytics.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42062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35424" y="438912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PySPH SWE-SPH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35424" y="4718304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LAGRANGIAN COMPARISON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35424" y="4974336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Near-field domain only — the breach plus the first few kilometres. Satisfies the named SPH requirement without faking it.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28432" y="42062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66176" y="438912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Delft3D-FLOW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66176" y="4718304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COMPARISON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266176" y="4974336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Kernels are GPLv3 with a free GUI. Prebuild one benchmark case before the finale; present it as precomputed.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05332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checked against the Ritter analytical dam-break solution — roughly an hour of work, and the difference between “we made a simulation” and “we validated one”.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input is open — except two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17190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532888" y="1719072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WE WOULD USE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299448" y="17190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11027664" cy="402336"/>
          </a:xfrm>
          <a:prstGeom prst="rect">
            <a:avLst/>
          </a:prstGeom>
          <a:solidFill>
            <a:srgbClr val="E4EAEB"/>
          </a:solidFill>
          <a:ln w="12700">
            <a:solidFill>
              <a:srgbClr val="E4EA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0116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32888" y="201168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FABDEM 30 m bare-earth, Copernicus GLO-30, CartoDEM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299448" y="20116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free registration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41401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532888" y="2414016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GHS-POP 100 m, best performer for Indian villages; Census 2011 PCA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299448" y="24140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779776"/>
            <a:ext cx="11027664" cy="402336"/>
          </a:xfrm>
          <a:prstGeom prst="rect">
            <a:avLst/>
          </a:prstGeom>
          <a:solidFill>
            <a:srgbClr val="E4EAEB"/>
          </a:solidFill>
          <a:ln w="12700">
            <a:solidFill>
              <a:srgbClr val="E4EA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28163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532888" y="281635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combined Google + Microsoft + OSM, 2.7 bn footprints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299448" y="28163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32186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&amp; POIs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532888" y="3218688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via OSMnx / Geofabrik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99448" y="32186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ODbL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3584448"/>
            <a:ext cx="11027664" cy="402336"/>
          </a:xfrm>
          <a:prstGeom prst="rect">
            <a:avLst/>
          </a:prstGeom>
          <a:solidFill>
            <a:srgbClr val="E4EAEB"/>
          </a:solidFill>
          <a:ln w="12700">
            <a:solidFill>
              <a:srgbClr val="E4EA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36210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532888" y="3621024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2011 polygons — Datameet, SHRUG, AIKosh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299448" y="36210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" y="402336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532888" y="402336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Register of Specified Dams 2026 (NDSA PDF)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299448" y="40233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4389120"/>
            <a:ext cx="11027664" cy="402336"/>
          </a:xfrm>
          <a:prstGeom prst="rect">
            <a:avLst/>
          </a:prstGeom>
          <a:solidFill>
            <a:srgbClr val="E4EAEB"/>
          </a:solidFill>
          <a:ln w="12700">
            <a:solidFill>
              <a:srgbClr val="E4EA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1248" y="44256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levels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532888" y="4425696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India-WRIS, data.gov.in daily CWC series, Kerala live JSON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299448" y="44256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" y="48280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532888" y="482803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/ 2, Landsat, Bhuvan NOEDA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299448" y="4828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free registration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5440680"/>
            <a:ext cx="11027664" cy="868680"/>
          </a:xfrm>
          <a:prstGeom prst="roundRect">
            <a:avLst>
              <a:gd name="adj" fmla="val 8421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41248" y="5614416"/>
            <a:ext cx="10479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2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exceptions: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bathymetry and breach parameters are not published for Indian dams. Both have accepted estimation routes — stage-storage from the DEM, and Froehlich (2008), which CWC recommends. Say so out loud; it converts a weakness into method.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5539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47088"/>
            <a:ext cx="329184" cy="329184"/>
          </a:xfrm>
          <a:prstGeom prst="ellipse">
            <a:avLst/>
          </a:prstGeom>
          <a:solidFill>
            <a:srgbClr val="1F6675"/>
          </a:solidFill>
          <a:ln w="12700">
            <a:solidFill>
              <a:srgbClr val="1F66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847088"/>
            <a:ext cx="268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Hazard ingest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249424"/>
            <a:ext cx="3115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 Sentinel-1/2 change detection, the dam register, or an analyst-drawn polygon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03776" y="1645920"/>
            <a:ext cx="35539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3232" y="1847088"/>
            <a:ext cx="329184" cy="329184"/>
          </a:xfrm>
          <a:prstGeom prst="ellipse">
            <a:avLst/>
          </a:prstGeom>
          <a:solidFill>
            <a:srgbClr val="1F6675"/>
          </a:solidFill>
          <a:ln w="12700">
            <a:solidFill>
              <a:srgbClr val="1F667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3232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943856" y="1847088"/>
            <a:ext cx="268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&amp; volume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523232" y="2249424"/>
            <a:ext cx="3115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 fill-to-outlet gives the stage-storage curve and impounded volume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0624" y="1645920"/>
            <a:ext cx="35539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60080" y="1847088"/>
            <a:ext cx="329184" cy="329184"/>
          </a:xfrm>
          <a:prstGeom prst="ellipse">
            <a:avLst/>
          </a:prstGeom>
          <a:solidFill>
            <a:srgbClr val="1F6675"/>
          </a:solidFill>
          <a:ln w="12700">
            <a:solidFill>
              <a:srgbClr val="1F667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600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80704" y="1847088"/>
            <a:ext cx="268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Breach ensemble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60080" y="2249424"/>
            <a:ext cx="3115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Froehlich 2008 plus two alternatives, giving pessimistic / central / optimistic hydrographs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127248"/>
            <a:ext cx="35539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" y="3328416"/>
            <a:ext cx="329184" cy="329184"/>
          </a:xfrm>
          <a:prstGeom prst="ellipse">
            <a:avLst/>
          </a:prstGeom>
          <a:solidFill>
            <a:srgbClr val="1F6675"/>
          </a:solidFill>
          <a:ln w="12700">
            <a:solidFill>
              <a:srgbClr val="1F667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3328416"/>
            <a:ext cx="268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Dual-solver engine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86384" y="3730752"/>
            <a:ext cx="3115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ANUGA full domain, PySPH SWE-SPH near field, both checked against Ritter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03776" y="3127248"/>
            <a:ext cx="35539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3232" y="3328416"/>
            <a:ext cx="329184" cy="329184"/>
          </a:xfrm>
          <a:prstGeom prst="ellipse">
            <a:avLst/>
          </a:prstGeom>
          <a:solidFill>
            <a:srgbClr val="1F6675"/>
          </a:solidFill>
          <a:ln w="12700">
            <a:solidFill>
              <a:srgbClr val="1F667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23232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943856" y="3328416"/>
            <a:ext cx="268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&amp; arrival time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523232" y="3730752"/>
            <a:ext cx="3115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Rasters per timestep. Arrival time is the output that actually drives decisions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0624" y="3127248"/>
            <a:ext cx="35539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60080" y="3328416"/>
            <a:ext cx="329184" cy="329184"/>
          </a:xfrm>
          <a:prstGeom prst="ellipse">
            <a:avLst/>
          </a:prstGeom>
          <a:solidFill>
            <a:srgbClr val="1F6675"/>
          </a:solidFill>
          <a:ln w="12700">
            <a:solidFill>
              <a:srgbClr val="1F667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60080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680704" y="3328416"/>
            <a:ext cx="268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Exposure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8260080" y="3730752"/>
            <a:ext cx="3115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GHS-POP, village polygons, building footprints, giving PAR and loss/damage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4608576"/>
            <a:ext cx="3553968" cy="1280160"/>
          </a:xfrm>
          <a:prstGeom prst="roundRect">
            <a:avLst>
              <a:gd name="adj" fmla="val 5714"/>
            </a:avLst>
          </a:prstGeom>
          <a:solidFill>
            <a:srgbClr val="F3D9CB"/>
          </a:solidFill>
          <a:ln w="12700">
            <a:solidFill>
              <a:srgbClr val="E8C4A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86384" y="4809744"/>
            <a:ext cx="329184" cy="329184"/>
          </a:xfrm>
          <a:prstGeom prst="ellipse">
            <a:avLst/>
          </a:prstGeom>
          <a:solidFill>
            <a:srgbClr val="E2703A"/>
          </a:solidFill>
          <a:ln w="12700">
            <a:solidFill>
              <a:srgbClr val="E2703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86384" y="4809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207008" y="4809744"/>
            <a:ext cx="268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isolation</a:t>
            </a:r>
            <a:endParaRPr lang="en-US" sz="1550" dirty="0"/>
          </a:p>
        </p:txBody>
      </p:sp>
      <p:sp>
        <p:nvSpPr>
          <p:cNvPr id="38" name="Text 36"/>
          <p:cNvSpPr txBox="1"/>
          <p:nvPr/>
        </p:nvSpPr>
        <p:spPr>
          <a:xfrm>
            <a:off x="786384" y="5212080"/>
            <a:ext cx="3115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2E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OSMnx graph, edges cut by depth per timestep: when each village loses its last exit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03776" y="4608576"/>
            <a:ext cx="35539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23232" y="4809744"/>
            <a:ext cx="329184" cy="329184"/>
          </a:xfrm>
          <a:prstGeom prst="ellipse">
            <a:avLst/>
          </a:prstGeom>
          <a:solidFill>
            <a:srgbClr val="1F6675"/>
          </a:solidFill>
          <a:ln w="12700">
            <a:solidFill>
              <a:srgbClr val="1F667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23232" y="4809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943856" y="4809744"/>
            <a:ext cx="268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list</a:t>
            </a:r>
            <a:endParaRPr lang="en-US" sz="1550" dirty="0"/>
          </a:p>
        </p:txBody>
      </p:sp>
      <p:sp>
        <p:nvSpPr>
          <p:cNvPr id="43" name="Text 41"/>
          <p:cNvSpPr txBox="1"/>
          <p:nvPr/>
        </p:nvSpPr>
        <p:spPr>
          <a:xfrm>
            <a:off x="4523232" y="5212080"/>
            <a:ext cx="3115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isolation time, population and egress, with ensemble confidence bands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040624" y="4608576"/>
            <a:ext cx="35539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260080" y="4809744"/>
            <a:ext cx="329184" cy="329184"/>
          </a:xfrm>
          <a:prstGeom prst="ellipse">
            <a:avLst/>
          </a:prstGeom>
          <a:solidFill>
            <a:srgbClr val="1F6675"/>
          </a:solidFill>
          <a:ln w="12700">
            <a:solidFill>
              <a:srgbClr val="1F667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260080" y="4809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680704" y="4809744"/>
            <a:ext cx="268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1550" dirty="0"/>
          </a:p>
        </p:txBody>
      </p:sp>
      <p:sp>
        <p:nvSpPr>
          <p:cNvPr id="48" name="Text 46"/>
          <p:cNvSpPr txBox="1"/>
          <p:nvPr/>
        </p:nvSpPr>
        <p:spPr>
          <a:xfrm>
            <a:off x="8260080" y="5212080"/>
            <a:ext cx="3115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.shp / .kml, an EAP-template-shaped PDF, and a CAP-conformant payload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566928" y="605332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is the differentiator — no operational Indian system computes which village loses its last road out, and at what minute.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must work, and what can wait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404104" cy="3840480"/>
          </a:xfrm>
          <a:prstGeom prst="roundRect">
            <a:avLst>
              <a:gd name="adj" fmla="val 1905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901952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MVP — NON-NEGOTIABLE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04288"/>
            <a:ext cx="482803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DEM, impoundment volume, Froehlich hydrograph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ANUGA run producing depth and arrival-time rasters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Per-village population and buildings exposed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.shp / .kml export — a literal PS deliverable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Time-slider map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Ritter validation plot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prepared cases: one engineered dam, one natural blockage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0488" y="1691640"/>
            <a:ext cx="5404104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64808" y="1901952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TIME PERMITS — IN THIS ORDER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64808" y="2304288"/>
            <a:ext cx="482803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E2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isolation analysis — highest marginal judge value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PySPH SWE-SPH comparison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 change-detection notebook (PS deliverable iv)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EAP-shaped PDF generator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payload for SACHET ingestion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flythrough render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bands surfaced in the UI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5669280"/>
            <a:ext cx="11027664" cy="731520"/>
          </a:xfrm>
          <a:prstGeom prst="roundRect">
            <a:avLst>
              <a:gd name="adj" fmla="val 10000"/>
            </a:avLst>
          </a:prstGeom>
          <a:solidFill>
            <a:srgbClr val="E4EAEB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1248" y="5833872"/>
            <a:ext cx="10479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without hesitation:  </a:t>
            </a:r>
            <a:pPr indent="0" marL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optimisation (the data does not exist), user accounts, a mobile app, and anything that actually sends alerts.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risks that actually bite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27664" cy="749808"/>
          </a:xfrm>
          <a:prstGeom prst="roundRect">
            <a:avLst>
              <a:gd name="adj" fmla="val 9756"/>
            </a:avLst>
          </a:prstGeom>
          <a:solidFill>
            <a:srgbClr val="F3D9CB"/>
          </a:solidFill>
          <a:ln w="12700">
            <a:solidFill>
              <a:srgbClr val="E8C4A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830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Non-compliance with SPH + Delft3D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36008" y="192938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2703A"/>
          </a:solidFill>
          <a:ln w="12700">
            <a:solidFill>
              <a:srgbClr val="E270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36008" y="19293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596128" y="1783080"/>
            <a:ext cx="5724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2E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SWE-SPH in PySPH as a real second solver and prebuild one Delft3D case. Do this before touching the UI.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551176"/>
            <a:ext cx="11027664" cy="749808"/>
          </a:xfrm>
          <a:prstGeom prst="roundRect">
            <a:avLst>
              <a:gd name="adj" fmla="val 9756"/>
            </a:avLst>
          </a:prstGeom>
          <a:solidFill>
            <a:srgbClr val="F3D9CB"/>
          </a:solidFill>
          <a:ln w="12700">
            <a:solidFill>
              <a:srgbClr val="E8C4A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1248" y="26426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as an RBSD clone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636008" y="278892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2703A"/>
          </a:solidFill>
          <a:ln w="12700">
            <a:solidFill>
              <a:srgbClr val="E270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36008" y="27889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596128" y="2642616"/>
            <a:ext cx="5724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2E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ad-hoc impoundments and isolation time. Name RBSD in our own deck and state what we add.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410712"/>
            <a:ext cx="1102766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1248" y="35021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breach parameters exist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36008" y="364845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F6675"/>
          </a:solidFill>
          <a:ln w="12700">
            <a:solidFill>
              <a:srgbClr val="1F667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36008" y="36484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596128" y="3502152"/>
            <a:ext cx="5724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the feature: a three-equation ensemble reported as a confidence band, never a single number.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270248"/>
            <a:ext cx="1102766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41248" y="436168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 DEM ceiling on accuracy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636008" y="450799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F6675"/>
          </a:solidFill>
          <a:ln w="12700">
            <a:solidFill>
              <a:srgbClr val="1F667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36008" y="45079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596128" y="4361688"/>
            <a:ext cx="5724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FABDEM bare-earth, channel burn from OSM waterways, and a Manning's n sensitivity run shown on screen.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129784"/>
            <a:ext cx="1102766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1248" y="52212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too slow to demo live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636008" y="536752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F6675"/>
          </a:solidFill>
          <a:ln w="12700">
            <a:solidFill>
              <a:srgbClr val="1F667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36008" y="53675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596128" y="5221224"/>
            <a:ext cx="5724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 the scenario library. That is the correct architecture anyway; emergencies cannot wait for a solver.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40080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ten-risk register, each with a hackathon mitigation, is in Part 10 of the written report.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obvious pitch scores worst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3736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36408" y="1737360"/>
            <a:ext cx="3758184" cy="3931920"/>
          </a:xfrm>
          <a:prstGeom prst="roundRect">
            <a:avLst>
              <a:gd name="adj" fmla="val 1946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110728" y="193852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inversion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110728" y="2331720"/>
            <a:ext cx="3209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instinct — that the opportunity is the downstream decision-support layer — scores worst in its generic form, because RBSD already is that layer.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110728" y="3703320"/>
            <a:ext cx="32095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instinct scores best once it is aimed at hazards nobody owns, and at the one analytic — time-varying road isolation — that no operational Indian system provides.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640080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across novelty, technical depth, feasibility, judge appeal, government relevance, differentiation, data availability and PS compliance.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Against the other three on our shortlist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2633472" cy="3200400"/>
          </a:xfrm>
          <a:prstGeom prst="roundRect">
            <a:avLst>
              <a:gd name="adj" fmla="val 2778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95681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SIH26161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34086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 Break · NTRO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89504"/>
            <a:ext cx="2157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3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ceiling, highest variance. Needs real hydraulics skill and weeks of prep before the finale.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4672" y="443484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2703A"/>
          </a:solidFill>
          <a:ln w="12700">
            <a:solidFill>
              <a:srgbClr val="E270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4434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pick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64992" y="1737360"/>
            <a:ext cx="2633472" cy="32004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02736" y="195681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SIH26012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3602736" y="234086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Cadastral extraction · MoRD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02736" y="2889504"/>
            <a:ext cx="2157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or dies on securing labelled drone imagery. Crowded with CV teams. Verify data access this week.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3056" y="1737360"/>
            <a:ext cx="2633472" cy="32004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0" y="195681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SIH26013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34086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harmonisation · MoRD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889504"/>
            <a:ext cx="2157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variance, low ceiling. Data-light and safe, but schema reconciliation does not demo well.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1120" y="1737360"/>
            <a:ext cx="2633472" cy="32004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98864" y="195681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SIH26021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9198864" y="234086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 Chain · MSME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198864" y="2889504"/>
            <a:ext cx="2157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technical depth, highest crowding. Choose only to optimise for a safe finish.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120640"/>
            <a:ext cx="11027664" cy="1051560"/>
          </a:xfrm>
          <a:prstGeom prst="roundRect">
            <a:avLst>
              <a:gd name="adj" fmla="val 6957"/>
            </a:avLst>
          </a:prstGeom>
          <a:solidFill>
            <a:srgbClr val="E4EAEB"/>
          </a:solidFill>
          <a:ln w="12700">
            <a:solidFill>
              <a:srgbClr val="E4EA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41248" y="5321808"/>
            <a:ext cx="10479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committing: verify the PS text on the official portal, try to register for RBSD, and pip-install ANUGA and PySPH today. If either install fails on our machines, the whole plan changes.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it, on two conditions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404104" cy="2286000"/>
          </a:xfrm>
          <a:prstGeom prst="roundRect">
            <a:avLst>
              <a:gd name="adj" fmla="val 3200"/>
            </a:avLst>
          </a:prstGeom>
          <a:solidFill>
            <a:srgbClr val="12303F"/>
          </a:solidFill>
          <a:ln w="12700">
            <a:solidFill>
              <a:srgbClr val="1E435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77440"/>
            <a:ext cx="4855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Someone owns the hydraulics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788920"/>
            <a:ext cx="4855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team member must be genuinely comfortable with shallow-water equations, CFL stability, boundary conditions and Manning's n. Without that, the SPH requirement is a wall we hit at hour 20.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0488" y="1691640"/>
            <a:ext cx="5404104" cy="2286000"/>
          </a:xfrm>
          <a:prstGeom prst="roundRect">
            <a:avLst>
              <a:gd name="adj" fmla="val 3200"/>
            </a:avLst>
          </a:prstGeom>
          <a:solidFill>
            <a:srgbClr val="12303F"/>
          </a:solidFill>
          <a:ln w="12700">
            <a:solidFill>
              <a:srgbClr val="1E435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D2A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64808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464808" y="2377440"/>
            <a:ext cx="4855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accept the reframing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64808" y="2788920"/>
            <a:ext cx="4855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plan is “flood map plus population dashboard”, decline this PS. We will be measured against RBSD and lose.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22452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553712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rapid consequence-assessment engine for impoundments nobody has modelled — landslide dams, moraine-dammed lakes, blocked reaches — with arrival time and road isolation as the headline outputs, not flood extent.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71500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2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“34-minute evacuation window for 1,240 people” beats any heat map.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1722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evidence, citations and the seven pre-commitment checks are in the written report.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SIH26161 Decision Deck</dc:title>
  <dc:subject>PptxGenJS Presentation</dc:subject>
  <dc:creator>SIH team research</dc:creator>
  <cp:lastModifiedBy>SIH team research</cp:lastModifiedBy>
  <cp:revision>1</cp:revision>
  <dcterms:created xsi:type="dcterms:W3CDTF">2026-08-29T16:12:27Z</dcterms:created>
  <dcterms:modified xsi:type="dcterms:W3CDTF">2026-08-29T16:12:27Z</dcterms:modified>
</cp:coreProperties>
</file>